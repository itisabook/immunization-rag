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7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C0BDF-AFC1-4EDF-BA10-9ECC2B3C90CE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71407-9353-4FD1-9237-F93EB4C424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349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82aafadf9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00" name="Google Shape;200;g3e82aafadf9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EC8C-6A70-2847-E127-88C86D950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A7E68-63D1-45C1-FDF4-ECE6D3E50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B61DD-7111-E2AF-7729-87AF7350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5ADFF-D9AC-9503-73BB-A75D8D60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0F344-9E52-8CFF-BB69-D523FD73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3496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96FA-19B2-88DC-A301-BD862095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9BA1-D2EC-A895-DE84-F840E55F5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29947-AA9C-5015-02D6-D4C817EA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F47E-50E0-FF75-3ED9-43EABDA4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F6B4-3B87-962F-1D0C-28EC2F41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1657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1581-09CA-C206-E26A-83367A8A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51031-7759-D48B-3E38-D30444E61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B7C6-E6DA-696C-A6F0-8A3BE620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B90DD-74D0-B099-81FF-DA57EEB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D43F9-4713-D8DB-D770-4FE64A56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1003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E143F-BF77-64E5-293A-27F21C79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2DB65-F997-AEDD-4D9A-397328A50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19A5-3D6C-4486-C654-1B5575226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0C168-1839-4087-F61D-2BCDF7BD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F6180-9DE8-CC28-EF4F-5B098959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D0222-589B-F47B-F356-FA1CF606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8848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2389-F2D0-3D76-4162-BE6454162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39D4B-5F2B-094F-6B70-2863043C0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BE061-E3B6-EA04-229C-7F068CA51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02954-7382-2E02-5B44-32155CD18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56E0B-A4AA-6D8F-D99F-E99CED31F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A3BF3-02EB-6D8F-CCA5-C59E7D0E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45FD4-504C-C848-6FEA-E84F26CB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D9782-BBCB-3967-3948-B2FE9576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3666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DCBD-47B1-92B3-81E5-6054282F4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A9EC7-D483-AD8B-0858-2B14B945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118C7-C446-B26C-8FB7-485D18EE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8ADCF-D31E-4EFC-6548-0F8F70A6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7078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687CA-AE5D-E08D-BB37-4EC41E73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D2A4F-C29D-2B9C-A870-3C245C3E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A7775-46FB-382D-F573-6DCBCB3C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6549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D31A-9BAB-045F-3722-F5AC5D49D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9B879-6712-19C2-4F4C-E25DAAEAB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DE55B-4FF3-46A4-EDB4-96549D0C0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E5642-5C2F-7497-6DF0-A5212E15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7ED06-6AF5-A6C9-1A7A-F63D7EFF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AE0D9-E5B1-D90B-39B7-96086C4C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822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0D9E-E655-42CB-F072-39384588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54EAD5-5EE2-7E32-C88D-FDBFB03DB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B9F8B-FCBF-AAB0-7F86-84C071CB4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56BB7-827B-903B-4609-A986965B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FAC8-9D5C-CD73-9691-9D52831D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89858-24D7-F4C9-DF07-3B999D44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8693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D86B-1999-EF35-5051-607A2D7C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E283-D39E-DEA7-704A-5470323EB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767B5-6C0E-4B0E-AA83-9FF6E167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FE30B-B996-E844-6BFD-9B2987C8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107DA-9D9E-E8BE-2E69-B138457C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8229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07C36-E3E8-A136-E8F8-4EC9FC21C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60E6B-AB0C-2624-8F0D-616BC75E3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42052-6AA3-8480-6DAE-D9FB91FD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289B1-DCDF-F99F-7970-FB5484F9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6C8F6-23BD-04B1-CBB6-333B195E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1335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BAB59-128F-1CFF-6BC8-EA159388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033E1-1B50-58E9-FE8B-C6E094020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0FC70-318C-2802-BF2E-03E69F700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1D18A-04DB-4BB2-B95B-548676416E4C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FD234-1674-4D8A-1849-94F662869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F2490-F77E-4638-A120-2178AFBC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F634B-A1C0-4D24-9032-54014E3BD7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452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/>
        </p:nvSpPr>
        <p:spPr>
          <a:xfrm>
            <a:off x="762000" y="571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Transcript</a:t>
            </a:r>
            <a:r>
              <a:rPr lang="en-US" sz="33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Classification a</a:t>
            </a:r>
            <a:r>
              <a:rPr lang="en-US" sz="33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nd Build Test Set</a:t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762000" y="1217265"/>
            <a:ext cx="10668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771525" y="2953494"/>
            <a:ext cx="190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2678757" y="2953494"/>
            <a:ext cx="50839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7762726" y="2953494"/>
            <a:ext cx="3657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771525" y="4029819"/>
            <a:ext cx="190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2678757" y="4029819"/>
            <a:ext cx="50839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7762726" y="4029819"/>
            <a:ext cx="3657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771525" y="5106144"/>
            <a:ext cx="190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2678757" y="5106144"/>
            <a:ext cx="50839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7762726" y="5106144"/>
            <a:ext cx="36577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375" y="1255373"/>
            <a:ext cx="6145950" cy="383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 title="Screenshot 2026-06-03 22013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88224"/>
            <a:ext cx="5965374" cy="383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 txBox="1"/>
          <p:nvPr/>
        </p:nvSpPr>
        <p:spPr>
          <a:xfrm>
            <a:off x="5885725" y="5229775"/>
            <a:ext cx="62433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'funded'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['funded', 'funding', 'nonfunded', 'eligible', 'eligibility'],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'flu'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['flu', 'influenza', '</a:t>
            </a:r>
            <a:r>
              <a:rPr lang="en-US" sz="105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fluvax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105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influvac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', 'quad', 'tetra'],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10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catchup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['catchup', 'ketchup'],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190975" y="1342675"/>
            <a:ext cx="5694900" cy="16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is_slow = row[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'NonTalk_Dev_Sec'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&gt; NONTALK_DEV_SEC_THRESHOLD     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is_chaotic = row[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'Overlap_Dev_Sec'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&gt; OVERLAP_DEV_SEC_THRESHOLD  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is_stressed = row[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'Sentiment_Dev'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&lt; SENTIMENT_DEV_THRESHOLD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US" sz="10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Q1_Extreme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”: is_slow </a:t>
            </a:r>
            <a:r>
              <a:rPr lang="en-U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is_chaotic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US" sz="10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Q2_Knowledge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”: is_slow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Q3_Interaction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is_chaotic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 b="1">
                <a:solidFill>
                  <a:srgbClr val="1155C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Q4_Baseline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normal (Neither slow nor chaotic)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2589400" y="3183550"/>
            <a:ext cx="1907100" cy="887700"/>
          </a:xfrm>
          <a:prstGeom prst="ellipse">
            <a:avLst/>
          </a:prstGeom>
          <a:noFill/>
          <a:ln w="9525" cap="flat" cmpd="sng">
            <a:solidFill>
              <a:srgbClr val="A3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2968900" y="3787375"/>
            <a:ext cx="2287800" cy="561300"/>
          </a:xfrm>
          <a:prstGeom prst="ellipse">
            <a:avLst/>
          </a:prstGeom>
          <a:noFill/>
          <a:ln w="952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390950" y="3183550"/>
            <a:ext cx="2287800" cy="855900"/>
          </a:xfrm>
          <a:prstGeom prst="ellipse">
            <a:avLst/>
          </a:prstGeom>
          <a:noFill/>
          <a:ln w="9525" cap="flat" cmpd="sng">
            <a:solidFill>
              <a:srgbClr val="9723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923925" y="3894875"/>
            <a:ext cx="1907100" cy="748500"/>
          </a:xfrm>
          <a:prstGeom prst="ellipse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/>
        </p:nvSpPr>
        <p:spPr>
          <a:xfrm>
            <a:off x="762000" y="615700"/>
            <a:ext cx="112014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969"/>
              </a:lnSpc>
            </a:pPr>
            <a:r>
              <a:rPr lang="en-US" sz="33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Evaluation Result on 100-Sample Test Set</a:t>
            </a:r>
          </a:p>
        </p:txBody>
      </p:sp>
      <p:sp>
        <p:nvSpPr>
          <p:cNvPr id="203" name="Google Shape;203;p25"/>
          <p:cNvSpPr/>
          <p:nvPr/>
        </p:nvSpPr>
        <p:spPr>
          <a:xfrm>
            <a:off x="762000" y="1238250"/>
            <a:ext cx="10668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25" title="User Query Response Pipeline-2026-06-02-2151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8950"/>
            <a:ext cx="2302599" cy="48766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25"/>
          <p:cNvGraphicFramePr/>
          <p:nvPr/>
        </p:nvGraphicFramePr>
        <p:xfrm>
          <a:off x="2690090" y="4034937"/>
          <a:ext cx="8546150" cy="3657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Relevance 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Pass Rate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/>
                        <a:t>Groundedness</a:t>
                      </a:r>
                      <a:r>
                        <a:rPr lang="en-US"/>
                        <a:t> Pass Rate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Avg Time (sec)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Avg Tokens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gpt-5-mini =&gt; gpt-5-mini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90.5%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95%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80.76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36325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gpt-4o-mini =&gt; gpt-4o-mini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65.5%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62.5%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6.92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32193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gpt-4o-mini =&gt; gpt-5-mini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95.5%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66.32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37220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gpt-5-mini =&gt; gpt-4o-mini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65.5%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66%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13.50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31425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6" name="Google Shape;206;p25"/>
          <p:cNvSpPr txBox="1"/>
          <p:nvPr/>
        </p:nvSpPr>
        <p:spPr>
          <a:xfrm>
            <a:off x="2695909" y="2344231"/>
            <a:ext cx="8447700" cy="10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>
                <a:solidFill>
                  <a:srgbClr val="A31515"/>
                </a:solidFill>
                <a:latin typeface="Calibri"/>
                <a:ea typeface="Calibri"/>
                <a:cs typeface="Calibri"/>
                <a:sym typeface="Calibri"/>
              </a:rPr>
              <a:t>Relevance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Feed Query and Response. "Did the AI response address the user's query?"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b="1" err="1">
                <a:solidFill>
                  <a:srgbClr val="A31515"/>
                </a:solidFill>
                <a:latin typeface="Calibri"/>
                <a:ea typeface="Calibri"/>
                <a:cs typeface="Calibri"/>
                <a:sym typeface="Calibri"/>
              </a:rPr>
              <a:t>Groundedness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Feed Query, Response and Context. "Did the AI response stick strictly to our context?"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gpt-5-mini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as a judge. Score 1 to 5, </a:t>
            </a:r>
            <a:r>
              <a:rPr lang="en-US" b="1">
                <a:solidFill>
                  <a:srgbClr val="A31515"/>
                </a:solidFill>
                <a:latin typeface="Calibri"/>
                <a:ea typeface="Calibri"/>
                <a:cs typeface="Calibri"/>
                <a:sym typeface="Calibri"/>
              </a:rPr>
              <a:t>over 4 is PASS.</a:t>
            </a:r>
            <a:endParaRPr b="1">
              <a:solidFill>
                <a:srgbClr val="A3151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137B9E1C74CF4CA57D02A24093D434" ma:contentTypeVersion="1" ma:contentTypeDescription="Create a new document." ma:contentTypeScope="" ma:versionID="d37842578e716d64e8d5dc49269c36c2">
  <xsd:schema xmlns:xsd="http://www.w3.org/2001/XMLSchema" xmlns:xs="http://www.w3.org/2001/XMLSchema" xmlns:p="http://schemas.microsoft.com/office/2006/metadata/properties" xmlns:ns3="c4602c53-3827-46c8-8b9e-895409eca25b" targetNamespace="http://schemas.microsoft.com/office/2006/metadata/properties" ma:root="true" ma:fieldsID="6424a99f7f1aa85b6576b619ad0dda64" ns3:_="">
    <xsd:import namespace="c4602c53-3827-46c8-8b9e-895409eca2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02c53-3827-46c8-8b9e-895409eca2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0E1F70-DD82-4C2A-9840-3B1F3FEAFA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602c53-3827-46c8-8b9e-895409eca2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B44422-F94D-455C-98D6-DD75DF8C49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366E9-C4EB-4891-AEE3-DA72F89E1835}">
  <ds:schemaRefs>
    <ds:schemaRef ds:uri="http://schemas.microsoft.com/office/2006/documentManagement/types"/>
    <ds:schemaRef ds:uri="c4602c53-3827-46c8-8b9e-895409eca25b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Widescreen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Courier New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Luo</dc:creator>
  <cp:lastModifiedBy>Park Luo</cp:lastModifiedBy>
  <cp:revision>1</cp:revision>
  <dcterms:created xsi:type="dcterms:W3CDTF">2026-07-20T03:35:30Z</dcterms:created>
  <dcterms:modified xsi:type="dcterms:W3CDTF">2026-07-20T03:36:55Z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0x010100A4137B9E1C74CF4CA57D02A24093D434</vt:lpwstr>
  </property>
</Properties>
</file>